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8288000" cy="10287000"/>
  <p:notesSz cx="6858000" cy="9144000"/>
  <p:embeddedFontLst>
    <p:embeddedFont>
      <p:font typeface="Public Sans Bold"/>
      <p:regular r:id="rId17"/>
    </p:embeddedFont>
    <p:embeddedFont>
      <p:font typeface="Playfair Display" panose="00000500000000000000"/>
      <p:regular r:id="rId18"/>
    </p:embeddedFont>
    <p:embeddedFont>
      <p:font typeface="Public Sans"/>
      <p:regular r:id="rId19"/>
    </p:embeddedFont>
    <p:embeddedFont>
      <p:font typeface="等线" pitchFamily="2" charset="-122"/>
      <p:regular r:id="rId20"/>
    </p:embeddedFont>
    <p:embeddedFont>
      <p:font typeface="Calibri" panose="020F050202020403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42" d="100"/>
          <a:sy n="42" d="100"/>
        </p:scale>
        <p:origin x="7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5100229"/>
            <a:ext cx="16230594" cy="38509"/>
          </a:xfrm>
          <a:prstGeom prst="line">
            <a:avLst/>
          </a:prstGeom>
          <a:ln w="9525" cap="flat">
            <a:solidFill>
              <a:srgbClr val="2B2C30"/>
            </a:solidFill>
            <a:prstDash val="solid"/>
            <a:headEnd type="none" w="sm" len="sm"/>
            <a:tailEnd type="none" w="sm" len="sm"/>
          </a:ln>
        </p:spPr>
      </p:sp>
      <p:sp>
        <p:nvSpPr>
          <p:cNvPr id="3" name="TextBox 3"/>
          <p:cNvSpPr txBox="1"/>
          <p:nvPr/>
        </p:nvSpPr>
        <p:spPr>
          <a:xfrm>
            <a:off x="1028700" y="5196069"/>
            <a:ext cx="16230600" cy="651099"/>
          </a:xfrm>
          <a:prstGeom prst="rect">
            <a:avLst/>
          </a:prstGeom>
        </p:spPr>
        <p:txBody>
          <a:bodyPr lIns="0" tIns="0" rIns="0" bIns="0" rtlCol="0" anchor="t">
            <a:spAutoFit/>
          </a:bodyPr>
          <a:lstStyle/>
          <a:p>
            <a:pPr algn="l">
              <a:lnSpc>
                <a:spcPts val="5200"/>
              </a:lnSpc>
              <a:spcBef>
                <a:spcPct val="0"/>
              </a:spcBef>
            </a:pPr>
            <a:r>
              <a:rPr lang="en-US" sz="3715" b="1" spc="843">
                <a:solidFill>
                  <a:srgbClr val="2B2C30"/>
                </a:solidFill>
                <a:latin typeface="Public Sans Bold"/>
                <a:ea typeface="Public Sans Bold"/>
                <a:cs typeface="Public Sans Bold"/>
                <a:sym typeface="Public Sans Bold"/>
              </a:rPr>
              <a:t>PRESENTED BY: JIAYI HUANG, XINYI GUI</a:t>
            </a:r>
            <a:endParaRPr lang="en-US" sz="3715" b="1" spc="843">
              <a:solidFill>
                <a:srgbClr val="2B2C30"/>
              </a:solidFill>
              <a:latin typeface="Public Sans Bold"/>
              <a:ea typeface="Public Sans Bold"/>
              <a:cs typeface="Public Sans Bold"/>
              <a:sym typeface="Public Sans Bold"/>
            </a:endParaRPr>
          </a:p>
        </p:txBody>
      </p:sp>
      <p:sp>
        <p:nvSpPr>
          <p:cNvPr id="4" name="TextBox 4"/>
          <p:cNvSpPr txBox="1"/>
          <p:nvPr/>
        </p:nvSpPr>
        <p:spPr>
          <a:xfrm>
            <a:off x="850974" y="1304925"/>
            <a:ext cx="16408332" cy="3422855"/>
          </a:xfrm>
          <a:prstGeom prst="rect">
            <a:avLst/>
          </a:prstGeom>
        </p:spPr>
        <p:txBody>
          <a:bodyPr lIns="0" tIns="0" rIns="0" bIns="0" rtlCol="0" anchor="t">
            <a:spAutoFit/>
          </a:bodyPr>
          <a:lstStyle/>
          <a:p>
            <a:pPr algn="l">
              <a:lnSpc>
                <a:spcPts val="8790"/>
              </a:lnSpc>
            </a:pPr>
            <a:r>
              <a:rPr lang="en-US" sz="9660" spc="48">
                <a:solidFill>
                  <a:srgbClr val="2B2C30"/>
                </a:solidFill>
                <a:latin typeface="Playfair Display" panose="00000500000000000000"/>
                <a:ea typeface="Playfair Display" panose="00000500000000000000"/>
                <a:cs typeface="Playfair Display" panose="00000500000000000000"/>
                <a:sym typeface="Playfair Display" panose="00000500000000000000"/>
              </a:rPr>
              <a:t>Analysis of Factors Affecting Restaurant Inspection Scores in New York City</a:t>
            </a:r>
            <a:endParaRPr lang="en-US" sz="9660" spc="48">
              <a:solidFill>
                <a:srgbClr val="2B2C30"/>
              </a:solidFill>
              <a:latin typeface="Playfair Display" panose="00000500000000000000"/>
              <a:ea typeface="Playfair Display" panose="00000500000000000000"/>
              <a:cs typeface="Playfair Display" panose="00000500000000000000"/>
              <a:sym typeface="Playfair Display" panose="00000500000000000000"/>
            </a:endParaRPr>
          </a:p>
        </p:txBody>
      </p:sp>
      <p:sp>
        <p:nvSpPr>
          <p:cNvPr id="5" name="TextBox 5"/>
          <p:cNvSpPr txBox="1"/>
          <p:nvPr/>
        </p:nvSpPr>
        <p:spPr>
          <a:xfrm>
            <a:off x="1192705" y="7914528"/>
            <a:ext cx="7862435" cy="864870"/>
          </a:xfrm>
          <a:prstGeom prst="rect">
            <a:avLst/>
          </a:prstGeom>
        </p:spPr>
        <p:txBody>
          <a:bodyPr lIns="0" tIns="0" rIns="0" bIns="0" rtlCol="0" anchor="t">
            <a:spAutoFit/>
          </a:bodyPr>
          <a:lstStyle/>
          <a:p>
            <a:pPr algn="l">
              <a:lnSpc>
                <a:spcPts val="3450"/>
              </a:lnSpc>
            </a:pPr>
            <a:r>
              <a:rPr lang="en-US" sz="2300">
                <a:solidFill>
                  <a:srgbClr val="2B2C30"/>
                </a:solidFill>
                <a:latin typeface="Public Sans"/>
                <a:ea typeface="Public Sans"/>
                <a:cs typeface="Public Sans"/>
                <a:sym typeface="Public Sans"/>
              </a:rPr>
              <a:t>Date: Dec 5, 2024</a:t>
            </a:r>
            <a:endParaRPr lang="en-US" sz="2300">
              <a:solidFill>
                <a:srgbClr val="2B2C30"/>
              </a:solidFill>
              <a:latin typeface="Public Sans"/>
              <a:ea typeface="Public Sans"/>
              <a:cs typeface="Public Sans"/>
              <a:sym typeface="Public Sans"/>
            </a:endParaRPr>
          </a:p>
          <a:p>
            <a:pPr algn="l">
              <a:lnSpc>
                <a:spcPts val="3450"/>
              </a:lnSpc>
            </a:pPr>
            <a:r>
              <a:rPr lang="en-US" sz="2300">
                <a:solidFill>
                  <a:srgbClr val="2B2C30"/>
                </a:solidFill>
                <a:latin typeface="Public Sans"/>
                <a:ea typeface="Public Sans"/>
                <a:cs typeface="Public Sans"/>
                <a:sym typeface="Public Sans"/>
              </a:rPr>
              <a:t>Course: ORCA-E2500</a:t>
            </a:r>
            <a:endParaRPr lang="en-US" sz="2300">
              <a:solidFill>
                <a:srgbClr val="2B2C30"/>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3" name="Freeform 3"/>
          <p:cNvSpPr/>
          <p:nvPr/>
        </p:nvSpPr>
        <p:spPr>
          <a:xfrm>
            <a:off x="8626143" y="2705264"/>
            <a:ext cx="9429064" cy="6725298"/>
          </a:xfrm>
          <a:custGeom>
            <a:avLst/>
            <a:gdLst/>
            <a:ahLst/>
            <a:cxnLst/>
            <a:rect l="l" t="t" r="r" b="b"/>
            <a:pathLst>
              <a:path w="9429064" h="6725298">
                <a:moveTo>
                  <a:pt x="0" y="0"/>
                </a:moveTo>
                <a:lnTo>
                  <a:pt x="9429063" y="0"/>
                </a:lnTo>
                <a:lnTo>
                  <a:pt x="9429063" y="6725298"/>
                </a:lnTo>
                <a:lnTo>
                  <a:pt x="0" y="6725298"/>
                </a:lnTo>
                <a:lnTo>
                  <a:pt x="0" y="0"/>
                </a:lnTo>
                <a:close/>
              </a:path>
            </a:pathLst>
          </a:custGeom>
          <a:blipFill>
            <a:blip r:embed="rId1"/>
            <a:stretch>
              <a:fillRect l="-476" t="-315" r="-476"/>
            </a:stretch>
          </a:blipFill>
        </p:spPr>
      </p:sp>
      <p:sp>
        <p:nvSpPr>
          <p:cNvPr id="4" name="TextBox 4"/>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5" b="1" spc="843">
                <a:solidFill>
                  <a:srgbClr val="2B2C30"/>
                </a:solidFill>
                <a:latin typeface="Public Sans Bold"/>
                <a:ea typeface="Public Sans Bold"/>
                <a:cs typeface="Public Sans Bold"/>
                <a:sym typeface="Public Sans Bold"/>
              </a:rPr>
              <a:t>PROJECT OVERVIEW</a:t>
            </a:r>
            <a:endParaRPr lang="en-US" sz="3715" b="1" spc="843">
              <a:solidFill>
                <a:srgbClr val="2B2C30"/>
              </a:solidFill>
              <a:latin typeface="Public Sans Bold"/>
              <a:ea typeface="Public Sans Bold"/>
              <a:cs typeface="Public Sans Bold"/>
              <a:sym typeface="Public Sans Bold"/>
            </a:endParaRPr>
          </a:p>
        </p:txBody>
      </p:sp>
      <p:sp>
        <p:nvSpPr>
          <p:cNvPr id="5" name="TextBox 5"/>
          <p:cNvSpPr txBox="1"/>
          <p:nvPr/>
        </p:nvSpPr>
        <p:spPr>
          <a:xfrm>
            <a:off x="748959" y="2760417"/>
            <a:ext cx="7877184" cy="2581148"/>
          </a:xfrm>
          <a:prstGeom prst="rect">
            <a:avLst/>
          </a:prstGeom>
        </p:spPr>
        <p:txBody>
          <a:bodyPr lIns="0" tIns="0" rIns="0" bIns="0" rtlCol="0" anchor="t">
            <a:spAutoFit/>
          </a:bodyPr>
          <a:lstStyle/>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Inspection Scores by Borough and Cuisine</a:t>
            </a:r>
            <a:endParaRPr lang="en-US" sz="2800">
              <a:solidFill>
                <a:srgbClr val="2B2C30"/>
              </a:solidFill>
              <a:latin typeface="Public Sans"/>
              <a:ea typeface="Public Sans"/>
              <a:cs typeface="Public Sans"/>
              <a:sym typeface="Public Sans"/>
            </a:endParaRPr>
          </a:p>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Temporal Trends within the Year 2024</a:t>
            </a:r>
            <a:endParaRPr lang="en-US" sz="2800">
              <a:solidFill>
                <a:srgbClr val="2B2C30"/>
              </a:solidFill>
              <a:latin typeface="Public Sans"/>
              <a:ea typeface="Public Sans"/>
              <a:cs typeface="Public Sans"/>
              <a:sym typeface="Public Sans"/>
            </a:endParaRPr>
          </a:p>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The Factors that lead to Higher Scores</a:t>
            </a:r>
            <a:endParaRPr lang="en-US" sz="2800">
              <a:solidFill>
                <a:srgbClr val="2B2C30"/>
              </a:solidFill>
              <a:latin typeface="Public Sans"/>
              <a:ea typeface="Public Sans"/>
              <a:cs typeface="Public Sans"/>
              <a:sym typeface="Public Sans"/>
            </a:endParaRPr>
          </a:p>
          <a:p>
            <a:pPr algn="l">
              <a:lnSpc>
                <a:spcPts val="5235"/>
              </a:lnSpc>
            </a:pPr>
            <a:endParaRPr lang="en-US" sz="2800">
              <a:solidFill>
                <a:srgbClr val="2B2C30"/>
              </a:solidFill>
              <a:latin typeface="Public Sans"/>
              <a:ea typeface="Public Sans"/>
              <a:cs typeface="Public Sans"/>
              <a:sym typeface="Public Sans"/>
            </a:endParaRPr>
          </a:p>
        </p:txBody>
      </p:sp>
      <p:sp>
        <p:nvSpPr>
          <p:cNvPr id="6" name="TextBox 6"/>
          <p:cNvSpPr txBox="1"/>
          <p:nvPr/>
        </p:nvSpPr>
        <p:spPr>
          <a:xfrm>
            <a:off x="1020998" y="2157895"/>
            <a:ext cx="1975247" cy="547369"/>
          </a:xfrm>
          <a:prstGeom prst="rect">
            <a:avLst/>
          </a:prstGeom>
        </p:spPr>
        <p:txBody>
          <a:bodyPr lIns="0" tIns="0" rIns="0" bIns="0" rtlCol="0" anchor="t">
            <a:spAutoFit/>
          </a:bodyPr>
          <a:lstStyle/>
          <a:p>
            <a:pPr algn="ctr">
              <a:lnSpc>
                <a:spcPts val="4480"/>
              </a:lnSpc>
            </a:pPr>
            <a:r>
              <a:rPr lang="en-US" sz="3200" b="1">
                <a:solidFill>
                  <a:srgbClr val="2B2C30"/>
                </a:solidFill>
                <a:latin typeface="Public Sans Bold"/>
                <a:ea typeface="Public Sans Bold"/>
                <a:cs typeface="Public Sans Bold"/>
                <a:sym typeface="Public Sans Bold"/>
              </a:rPr>
              <a:t>Objective:</a:t>
            </a:r>
            <a:endParaRPr lang="en-US" sz="3200" b="1">
              <a:solidFill>
                <a:srgbClr val="2B2C30"/>
              </a:solidFill>
              <a:latin typeface="Public Sans Bold"/>
              <a:ea typeface="Public Sans Bold"/>
              <a:cs typeface="Public Sans Bold"/>
              <a:sym typeface="Public Sans Bold"/>
            </a:endParaRPr>
          </a:p>
        </p:txBody>
      </p:sp>
      <p:sp>
        <p:nvSpPr>
          <p:cNvPr id="7" name="TextBox 7"/>
          <p:cNvSpPr txBox="1"/>
          <p:nvPr/>
        </p:nvSpPr>
        <p:spPr>
          <a:xfrm>
            <a:off x="0" y="5520544"/>
            <a:ext cx="6892048" cy="547369"/>
          </a:xfrm>
          <a:prstGeom prst="rect">
            <a:avLst/>
          </a:prstGeom>
        </p:spPr>
        <p:txBody>
          <a:bodyPr lIns="0" tIns="0" rIns="0" bIns="0" rtlCol="0" anchor="t">
            <a:spAutoFit/>
          </a:bodyPr>
          <a:lstStyle/>
          <a:p>
            <a:pPr algn="ctr">
              <a:lnSpc>
                <a:spcPts val="4480"/>
              </a:lnSpc>
            </a:pPr>
            <a:r>
              <a:rPr lang="en-US" sz="3200" b="1">
                <a:solidFill>
                  <a:srgbClr val="2B2C30"/>
                </a:solidFill>
                <a:latin typeface="Public Sans Bold"/>
                <a:ea typeface="Public Sans Bold"/>
                <a:cs typeface="Public Sans Bold"/>
                <a:sym typeface="Public Sans Bold"/>
              </a:rPr>
              <a:t>Methodology Summary:</a:t>
            </a:r>
            <a:endParaRPr lang="en-US" sz="3200" b="1">
              <a:solidFill>
                <a:srgbClr val="2B2C30"/>
              </a:solidFill>
              <a:latin typeface="Public Sans Bold"/>
              <a:ea typeface="Public Sans Bold"/>
              <a:cs typeface="Public Sans Bold"/>
              <a:sym typeface="Public Sans Bold"/>
            </a:endParaRPr>
          </a:p>
        </p:txBody>
      </p:sp>
      <p:sp>
        <p:nvSpPr>
          <p:cNvPr id="8" name="TextBox 8"/>
          <p:cNvSpPr txBox="1"/>
          <p:nvPr/>
        </p:nvSpPr>
        <p:spPr>
          <a:xfrm>
            <a:off x="748959" y="6296513"/>
            <a:ext cx="7877184" cy="2581148"/>
          </a:xfrm>
          <a:prstGeom prst="rect">
            <a:avLst/>
          </a:prstGeom>
        </p:spPr>
        <p:txBody>
          <a:bodyPr lIns="0" tIns="0" rIns="0" bIns="0" rtlCol="0" anchor="t">
            <a:spAutoFit/>
          </a:bodyPr>
          <a:lstStyle/>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Anova Test</a:t>
            </a:r>
            <a:endParaRPr lang="en-US" sz="2800">
              <a:solidFill>
                <a:srgbClr val="2B2C30"/>
              </a:solidFill>
              <a:latin typeface="Public Sans"/>
              <a:ea typeface="Public Sans"/>
              <a:cs typeface="Public Sans"/>
              <a:sym typeface="Public Sans"/>
            </a:endParaRPr>
          </a:p>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Tukey HSD (Honestly Significant Difference)</a:t>
            </a:r>
            <a:endParaRPr lang="en-US" sz="2800">
              <a:solidFill>
                <a:srgbClr val="2B2C30"/>
              </a:solidFill>
              <a:latin typeface="Public Sans"/>
              <a:ea typeface="Public Sans"/>
              <a:cs typeface="Public Sans"/>
              <a:sym typeface="Public Sans"/>
            </a:endParaRPr>
          </a:p>
          <a:p>
            <a:pPr marL="604520" lvl="1" indent="-302260" algn="l">
              <a:lnSpc>
                <a:spcPts val="5235"/>
              </a:lnSpc>
              <a:buFont typeface="Arial" panose="020B0604020202090204"/>
              <a:buChar char="•"/>
            </a:pPr>
            <a:r>
              <a:rPr lang="en-US" sz="2800">
                <a:solidFill>
                  <a:srgbClr val="2B2C30"/>
                </a:solidFill>
                <a:latin typeface="Public Sans"/>
                <a:ea typeface="Public Sans"/>
                <a:cs typeface="Public Sans"/>
                <a:sym typeface="Public Sans"/>
              </a:rPr>
              <a:t>Multiple Regression Analysis</a:t>
            </a:r>
            <a:endParaRPr lang="en-US" sz="2800">
              <a:solidFill>
                <a:srgbClr val="2B2C30"/>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5" b="1" spc="843">
                <a:solidFill>
                  <a:srgbClr val="2B2C30"/>
                </a:solidFill>
                <a:latin typeface="Public Sans Bold"/>
                <a:ea typeface="Public Sans Bold"/>
                <a:cs typeface="Public Sans Bold"/>
                <a:sym typeface="Public Sans Bold"/>
              </a:rPr>
              <a:t>DATA SOURCE</a:t>
            </a:r>
            <a:endParaRPr lang="en-US" sz="3715" b="1" spc="843">
              <a:solidFill>
                <a:srgbClr val="2B2C30"/>
              </a:solidFill>
              <a:latin typeface="Public Sans Bold"/>
              <a:ea typeface="Public Sans Bold"/>
              <a:cs typeface="Public Sans Bold"/>
              <a:sym typeface="Public Sans Bold"/>
            </a:endParaRPr>
          </a:p>
        </p:txBody>
      </p:sp>
      <p:sp>
        <p:nvSpPr>
          <p:cNvPr id="3" name="AutoShape 3"/>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4" name="TextBox 4"/>
          <p:cNvSpPr txBox="1"/>
          <p:nvPr/>
        </p:nvSpPr>
        <p:spPr>
          <a:xfrm>
            <a:off x="1028700" y="2103806"/>
            <a:ext cx="16781098" cy="7536699"/>
          </a:xfrm>
          <a:prstGeom prst="rect">
            <a:avLst/>
          </a:prstGeom>
        </p:spPr>
        <p:txBody>
          <a:bodyPr lIns="0" tIns="0" rIns="0" bIns="0" rtlCol="0" anchor="t">
            <a:spAutoFit/>
          </a:bodyPr>
          <a:lstStyle/>
          <a:p>
            <a:pPr marL="714375" lvl="1" indent="-356870" algn="l">
              <a:lnSpc>
                <a:spcPts val="4630"/>
              </a:lnSpc>
              <a:buFont typeface="Arial" panose="020B0604020202090204"/>
              <a:buChar char="•"/>
            </a:pPr>
            <a:r>
              <a:rPr lang="en-US" sz="3310" b="1">
                <a:solidFill>
                  <a:srgbClr val="2B2C30"/>
                </a:solidFill>
                <a:latin typeface="Public Sans Bold"/>
                <a:ea typeface="Public Sans Bold"/>
                <a:cs typeface="Public Sans Bold"/>
                <a:sym typeface="Public Sans Bold"/>
              </a:rPr>
              <a:t>Dataset</a:t>
            </a:r>
            <a:r>
              <a:rPr lang="en-US" sz="3310">
                <a:solidFill>
                  <a:srgbClr val="2B2C30"/>
                </a:solidFill>
                <a:latin typeface="Public Sans"/>
                <a:ea typeface="Public Sans"/>
                <a:cs typeface="Public Sans"/>
                <a:sym typeface="Public Sans"/>
              </a:rPr>
              <a:t>: NYC Restaurant Inspection Results</a:t>
            </a:r>
            <a:endParaRPr lang="en-US" sz="3310">
              <a:solidFill>
                <a:srgbClr val="2B2C30"/>
              </a:solidFill>
              <a:latin typeface="Public Sans"/>
              <a:ea typeface="Public Sans"/>
              <a:cs typeface="Public Sans"/>
              <a:sym typeface="Public Sans"/>
            </a:endParaRPr>
          </a:p>
          <a:p>
            <a:pPr marL="714375" lvl="1" indent="-356870" algn="l">
              <a:lnSpc>
                <a:spcPts val="4630"/>
              </a:lnSpc>
              <a:buFont typeface="Arial" panose="020B0604020202090204"/>
              <a:buChar char="•"/>
            </a:pPr>
            <a:r>
              <a:rPr lang="en-US" sz="3310" b="1">
                <a:solidFill>
                  <a:srgbClr val="2B2C30"/>
                </a:solidFill>
                <a:latin typeface="Public Sans Bold"/>
                <a:ea typeface="Public Sans Bold"/>
                <a:cs typeface="Public Sans Bold"/>
                <a:sym typeface="Public Sans Bold"/>
              </a:rPr>
              <a:t>Source</a:t>
            </a:r>
            <a:r>
              <a:rPr lang="en-US" sz="3310">
                <a:solidFill>
                  <a:srgbClr val="2B2C30"/>
                </a:solidFill>
                <a:latin typeface="Public Sans"/>
                <a:ea typeface="Public Sans"/>
                <a:cs typeface="Public Sans"/>
                <a:sym typeface="Public Sans"/>
              </a:rPr>
              <a:t>: Department of Health and Mental Hygiene (DOHMH)</a:t>
            </a:r>
            <a:endParaRPr lang="en-US" sz="3310">
              <a:solidFill>
                <a:srgbClr val="2B2C30"/>
              </a:solidFill>
              <a:latin typeface="Public Sans"/>
              <a:ea typeface="Public Sans"/>
              <a:cs typeface="Public Sans"/>
              <a:sym typeface="Public Sans"/>
            </a:endParaRPr>
          </a:p>
          <a:p>
            <a:pPr marL="714375" lvl="1" indent="-356870" algn="l">
              <a:lnSpc>
                <a:spcPts val="4630"/>
              </a:lnSpc>
              <a:buFont typeface="Arial" panose="020B0604020202090204"/>
              <a:buChar char="•"/>
            </a:pPr>
            <a:r>
              <a:rPr lang="en-US" sz="3310" b="1">
                <a:solidFill>
                  <a:srgbClr val="2B2C30"/>
                </a:solidFill>
                <a:latin typeface="Public Sans Bold"/>
                <a:ea typeface="Public Sans Bold"/>
                <a:cs typeface="Public Sans Bold"/>
                <a:sym typeface="Public Sans Bold"/>
              </a:rPr>
              <a:t>Coverage</a:t>
            </a:r>
            <a:r>
              <a:rPr lang="en-US" sz="3310">
                <a:solidFill>
                  <a:srgbClr val="2B2C30"/>
                </a:solidFill>
                <a:latin typeface="Public Sans"/>
                <a:ea typeface="Public Sans"/>
                <a:cs typeface="Public Sans"/>
                <a:sym typeface="Public Sans"/>
              </a:rPr>
              <a:t>: Inspections up to three years prior to the latest in 2024</a:t>
            </a:r>
            <a:endParaRPr lang="en-US" sz="3310">
              <a:solidFill>
                <a:srgbClr val="2B2C30"/>
              </a:solidFill>
              <a:latin typeface="Public Sans"/>
              <a:ea typeface="Public Sans"/>
              <a:cs typeface="Public Sans"/>
              <a:sym typeface="Public Sans"/>
            </a:endParaRPr>
          </a:p>
          <a:p>
            <a:pPr algn="l">
              <a:lnSpc>
                <a:spcPts val="4630"/>
              </a:lnSpc>
            </a:pPr>
            <a:endParaRPr lang="en-US" sz="3310">
              <a:solidFill>
                <a:srgbClr val="2B2C30"/>
              </a:solidFill>
              <a:latin typeface="Public Sans"/>
              <a:ea typeface="Public Sans"/>
              <a:cs typeface="Public Sans"/>
              <a:sym typeface="Public Sans"/>
            </a:endParaRPr>
          </a:p>
          <a:p>
            <a:pPr marL="714375" lvl="1" indent="-356870" algn="l">
              <a:lnSpc>
                <a:spcPts val="4630"/>
              </a:lnSpc>
              <a:buFont typeface="Arial" panose="020B0604020202090204"/>
              <a:buChar char="•"/>
            </a:pPr>
            <a:r>
              <a:rPr lang="en-US" sz="3310" b="1">
                <a:solidFill>
                  <a:srgbClr val="2B2C30"/>
                </a:solidFill>
                <a:latin typeface="Public Sans Bold"/>
                <a:ea typeface="Public Sans Bold"/>
                <a:cs typeface="Public Sans Bold"/>
                <a:sym typeface="Public Sans Bold"/>
              </a:rPr>
              <a:t>Key Variables:</a:t>
            </a:r>
            <a:endParaRPr lang="en-US" sz="3310" b="1">
              <a:solidFill>
                <a:srgbClr val="2B2C30"/>
              </a:solidFill>
              <a:latin typeface="Public Sans Bold"/>
              <a:ea typeface="Public Sans Bold"/>
              <a:cs typeface="Public Sans Bold"/>
              <a:sym typeface="Public Sans Bold"/>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Score:</a:t>
            </a:r>
            <a:r>
              <a:rPr lang="en-US" sz="3310">
                <a:solidFill>
                  <a:srgbClr val="2B2C30"/>
                </a:solidFill>
                <a:latin typeface="Public Sans"/>
                <a:ea typeface="Public Sans"/>
                <a:cs typeface="Public Sans"/>
                <a:sym typeface="Public Sans"/>
              </a:rPr>
              <a:t> Higher values indicate poorer outcomes.</a:t>
            </a:r>
            <a:endParaRPr lang="en-US" sz="3310">
              <a:solidFill>
                <a:srgbClr val="2B2C30"/>
              </a:solidFill>
              <a:latin typeface="Public Sans"/>
              <a:ea typeface="Public Sans"/>
              <a:cs typeface="Public Sans"/>
              <a:sym typeface="Public Sans"/>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Boroug</a:t>
            </a:r>
            <a:r>
              <a:rPr lang="en-US" sz="3310">
                <a:solidFill>
                  <a:srgbClr val="2B2C30"/>
                </a:solidFill>
                <a:latin typeface="Public Sans"/>
                <a:ea typeface="Public Sans"/>
                <a:cs typeface="Public Sans"/>
                <a:sym typeface="Public Sans"/>
              </a:rPr>
              <a:t>h: Location of the restaurant.</a:t>
            </a:r>
            <a:endParaRPr lang="en-US" sz="3310">
              <a:solidFill>
                <a:srgbClr val="2B2C30"/>
              </a:solidFill>
              <a:latin typeface="Public Sans"/>
              <a:ea typeface="Public Sans"/>
              <a:cs typeface="Public Sans"/>
              <a:sym typeface="Public Sans"/>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Cuisine Type</a:t>
            </a:r>
            <a:r>
              <a:rPr lang="en-US" sz="3310">
                <a:solidFill>
                  <a:srgbClr val="2B2C30"/>
                </a:solidFill>
                <a:latin typeface="Public Sans"/>
                <a:ea typeface="Public Sans"/>
                <a:cs typeface="Public Sans"/>
                <a:sym typeface="Public Sans"/>
              </a:rPr>
              <a:t>: e.g., Italian, Chinese.</a:t>
            </a:r>
            <a:endParaRPr lang="en-US" sz="3310">
              <a:solidFill>
                <a:srgbClr val="2B2C30"/>
              </a:solidFill>
              <a:latin typeface="Public Sans"/>
              <a:ea typeface="Public Sans"/>
              <a:cs typeface="Public Sans"/>
              <a:sym typeface="Public Sans"/>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Inspection Date</a:t>
            </a:r>
            <a:endParaRPr lang="en-US" sz="3310" b="1">
              <a:solidFill>
                <a:srgbClr val="2B2C30"/>
              </a:solidFill>
              <a:latin typeface="Public Sans Bold"/>
              <a:ea typeface="Public Sans Bold"/>
              <a:cs typeface="Public Sans Bold"/>
              <a:sym typeface="Public Sans Bold"/>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Violations:</a:t>
            </a:r>
            <a:r>
              <a:rPr lang="en-US" sz="3310">
                <a:solidFill>
                  <a:srgbClr val="2B2C30"/>
                </a:solidFill>
                <a:latin typeface="Public Sans"/>
                <a:ea typeface="Public Sans"/>
                <a:cs typeface="Public Sans"/>
                <a:sym typeface="Public Sans"/>
              </a:rPr>
              <a:t> Includes codes and descriptions.</a:t>
            </a:r>
            <a:endParaRPr lang="en-US" sz="3310">
              <a:solidFill>
                <a:srgbClr val="2B2C30"/>
              </a:solidFill>
              <a:latin typeface="Public Sans"/>
              <a:ea typeface="Public Sans"/>
              <a:cs typeface="Public Sans"/>
              <a:sym typeface="Public Sans"/>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Critical Flag</a:t>
            </a:r>
            <a:r>
              <a:rPr lang="en-US" sz="3310">
                <a:solidFill>
                  <a:srgbClr val="2B2C30"/>
                </a:solidFill>
                <a:latin typeface="Public Sans"/>
                <a:ea typeface="Public Sans"/>
                <a:cs typeface="Public Sans"/>
                <a:sym typeface="Public Sans"/>
              </a:rPr>
              <a:t>: Indicates critical violations.</a:t>
            </a:r>
            <a:endParaRPr lang="en-US" sz="3310">
              <a:solidFill>
                <a:srgbClr val="2B2C30"/>
              </a:solidFill>
              <a:latin typeface="Public Sans"/>
              <a:ea typeface="Public Sans"/>
              <a:cs typeface="Public Sans"/>
              <a:sym typeface="Public Sans"/>
            </a:endParaRPr>
          </a:p>
          <a:p>
            <a:pPr marL="714375" lvl="1" indent="-356870" algn="l">
              <a:lnSpc>
                <a:spcPts val="4630"/>
              </a:lnSpc>
              <a:buAutoNum type="arabicPeriod"/>
            </a:pPr>
            <a:r>
              <a:rPr lang="en-US" sz="3310" b="1">
                <a:solidFill>
                  <a:srgbClr val="2B2C30"/>
                </a:solidFill>
                <a:latin typeface="Public Sans Bold"/>
                <a:ea typeface="Public Sans Bold"/>
                <a:cs typeface="Public Sans Bold"/>
                <a:sym typeface="Public Sans Bold"/>
              </a:rPr>
              <a:t>Inspection Type:</a:t>
            </a:r>
            <a:r>
              <a:rPr lang="en-US" sz="3310">
                <a:solidFill>
                  <a:srgbClr val="2B2C30"/>
                </a:solidFill>
                <a:latin typeface="Public Sans"/>
                <a:ea typeface="Public Sans"/>
                <a:cs typeface="Public Sans"/>
                <a:sym typeface="Public Sans"/>
              </a:rPr>
              <a:t> e.g., initial, follow-up.</a:t>
            </a:r>
            <a:endParaRPr lang="en-US" sz="3310">
              <a:solidFill>
                <a:srgbClr val="2B2C30"/>
              </a:solidFill>
              <a:latin typeface="Public Sans"/>
              <a:ea typeface="Public Sans"/>
              <a:cs typeface="Public Sans"/>
              <a:sym typeface="Public Sans"/>
            </a:endParaRPr>
          </a:p>
          <a:p>
            <a:pPr algn="l">
              <a:lnSpc>
                <a:spcPts val="4630"/>
              </a:lnSpc>
            </a:pPr>
            <a:endParaRPr lang="en-US" sz="3310">
              <a:solidFill>
                <a:srgbClr val="2B2C30"/>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16407" y="2172020"/>
            <a:ext cx="16242893" cy="7468870"/>
          </a:xfrm>
          <a:prstGeom prst="rect">
            <a:avLst/>
          </a:prstGeom>
        </p:spPr>
        <p:txBody>
          <a:bodyPr lIns="0" tIns="0" rIns="0" bIns="0" rtlCol="0" anchor="t">
            <a:spAutoFit/>
          </a:bodyPr>
          <a:lstStyle/>
          <a:p>
            <a:pPr algn="l">
              <a:lnSpc>
                <a:spcPts val="3640"/>
              </a:lnSpc>
            </a:pPr>
            <a:r>
              <a:rPr lang="en-US" sz="2800" spc="14">
                <a:solidFill>
                  <a:srgbClr val="2B2C30"/>
                </a:solidFill>
                <a:latin typeface="Public Sans"/>
                <a:ea typeface="Public Sans"/>
                <a:cs typeface="Public Sans"/>
                <a:sym typeface="Public Sans"/>
              </a:rPr>
              <a:t>1.Outlier processing: Outliers were identified using the interquartile range (IQR) method across key variables. Records with operational significance, such as high scores indicative of serious sanitation issues, were retained. Obvious errors were corrected, and robust modeling methods were employed to minimize the impact of extreme values.</a:t>
            </a:r>
            <a:endParaRPr lang="en-US" sz="2800" spc="14">
              <a:solidFill>
                <a:srgbClr val="2B2C30"/>
              </a:solidFill>
              <a:latin typeface="Public Sans"/>
              <a:ea typeface="Public Sans"/>
              <a:cs typeface="Public Sans"/>
              <a:sym typeface="Public Sans"/>
            </a:endParaRPr>
          </a:p>
          <a:p>
            <a:pPr algn="l">
              <a:lnSpc>
                <a:spcPts val="3640"/>
              </a:lnSpc>
            </a:pPr>
            <a:endParaRPr lang="en-US" sz="2800" spc="14">
              <a:solidFill>
                <a:srgbClr val="2B2C30"/>
              </a:solidFill>
              <a:latin typeface="Public Sans"/>
              <a:ea typeface="Public Sans"/>
              <a:cs typeface="Public Sans"/>
              <a:sym typeface="Public Sans"/>
            </a:endParaRPr>
          </a:p>
          <a:p>
            <a:pPr algn="l">
              <a:lnSpc>
                <a:spcPts val="3640"/>
              </a:lnSpc>
            </a:pPr>
            <a:r>
              <a:rPr lang="en-US" sz="2800" spc="14">
                <a:solidFill>
                  <a:srgbClr val="2B2C30"/>
                </a:solidFill>
                <a:latin typeface="Public Sans"/>
                <a:ea typeface="Public Sans"/>
                <a:cs typeface="Public Sans"/>
                <a:sym typeface="Public Sans"/>
              </a:rPr>
              <a:t>2.Feature engineering: Feature engineering played a critical role in enhancing the dataset’s analytical potential. Inspection dates were transformed into month and season categories, enabling the identification of temporal trends. Administrative districts and restaurant types were encoded, and new composite metrics were created. These included the region score difference (BORO_SCORE_DIFF), differences in meal type scores, and trends in average score variations, providing additional context for understanding compliance patterns.</a:t>
            </a:r>
            <a:endParaRPr lang="en-US" sz="2800" spc="14">
              <a:solidFill>
                <a:srgbClr val="2B2C30"/>
              </a:solidFill>
              <a:latin typeface="Public Sans"/>
              <a:ea typeface="Public Sans"/>
              <a:cs typeface="Public Sans"/>
              <a:sym typeface="Public Sans"/>
            </a:endParaRPr>
          </a:p>
          <a:p>
            <a:pPr algn="l">
              <a:lnSpc>
                <a:spcPts val="3640"/>
              </a:lnSpc>
            </a:pPr>
            <a:endParaRPr lang="en-US" sz="2800" spc="14">
              <a:solidFill>
                <a:srgbClr val="2B2C30"/>
              </a:solidFill>
              <a:latin typeface="Public Sans"/>
              <a:ea typeface="Public Sans"/>
              <a:cs typeface="Public Sans"/>
              <a:sym typeface="Public Sans"/>
            </a:endParaRPr>
          </a:p>
          <a:p>
            <a:pPr algn="l">
              <a:lnSpc>
                <a:spcPts val="3640"/>
              </a:lnSpc>
            </a:pPr>
            <a:r>
              <a:rPr lang="en-US" sz="2800" spc="14">
                <a:solidFill>
                  <a:srgbClr val="2B2C30"/>
                </a:solidFill>
                <a:latin typeface="Public Sans"/>
                <a:ea typeface="Public Sans"/>
                <a:cs typeface="Public Sans"/>
                <a:sym typeface="Public Sans"/>
              </a:rPr>
              <a:t>3.Data Standardization:  To ensure consistency and comparability, numerical features were normalized, and categorical variables were encoded while maintaining interpretability. These standardization efforts preserved the original data structure while improving its usability for modeling and analysis.</a:t>
            </a:r>
            <a:endParaRPr lang="en-US" sz="2800" spc="14">
              <a:solidFill>
                <a:srgbClr val="2B2C30"/>
              </a:solidFill>
              <a:latin typeface="Public Sans"/>
              <a:ea typeface="Public Sans"/>
              <a:cs typeface="Public Sans"/>
              <a:sym typeface="Public Sans"/>
            </a:endParaRPr>
          </a:p>
        </p:txBody>
      </p:sp>
      <p:sp>
        <p:nvSpPr>
          <p:cNvPr id="3" name="TextBox 3"/>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5" b="1" spc="843" dirty="0">
                <a:solidFill>
                  <a:srgbClr val="2B2C30"/>
                </a:solidFill>
                <a:latin typeface="Public Sans Bold"/>
                <a:ea typeface="Public Sans Bold"/>
                <a:cs typeface="Public Sans Bold"/>
                <a:sym typeface="Public Sans Bold"/>
              </a:rPr>
              <a:t>DATA ACQUISITION AND CLEANING</a:t>
            </a:r>
            <a:endParaRPr lang="en-US" sz="3715" b="1" spc="843" dirty="0">
              <a:solidFill>
                <a:srgbClr val="2B2C30"/>
              </a:solidFill>
              <a:latin typeface="Public Sans Bold"/>
              <a:ea typeface="Public Sans Bold"/>
              <a:cs typeface="Public Sans Bold"/>
              <a:sym typeface="Public Sans Bold"/>
            </a:endParaRPr>
          </a:p>
        </p:txBody>
      </p:sp>
      <p:sp>
        <p:nvSpPr>
          <p:cNvPr id="4" name="AutoShape 4"/>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3" name="Freeform 3"/>
          <p:cNvSpPr/>
          <p:nvPr/>
        </p:nvSpPr>
        <p:spPr>
          <a:xfrm>
            <a:off x="1006871" y="2943036"/>
            <a:ext cx="7572660" cy="3739001"/>
          </a:xfrm>
          <a:custGeom>
            <a:avLst/>
            <a:gdLst/>
            <a:ahLst/>
            <a:cxnLst/>
            <a:rect l="l" t="t" r="r" b="b"/>
            <a:pathLst>
              <a:path w="7572660" h="3739001">
                <a:moveTo>
                  <a:pt x="0" y="0"/>
                </a:moveTo>
                <a:lnTo>
                  <a:pt x="7572660" y="0"/>
                </a:lnTo>
                <a:lnTo>
                  <a:pt x="7572660" y="3739001"/>
                </a:lnTo>
                <a:lnTo>
                  <a:pt x="0" y="3739001"/>
                </a:lnTo>
                <a:lnTo>
                  <a:pt x="0" y="0"/>
                </a:lnTo>
                <a:close/>
              </a:path>
            </a:pathLst>
          </a:custGeom>
          <a:blipFill>
            <a:blip r:embed="rId1"/>
            <a:stretch>
              <a:fillRect/>
            </a:stretch>
          </a:blipFill>
        </p:spPr>
      </p:sp>
      <p:sp>
        <p:nvSpPr>
          <p:cNvPr id="4" name="Freeform 4"/>
          <p:cNvSpPr/>
          <p:nvPr/>
        </p:nvSpPr>
        <p:spPr>
          <a:xfrm>
            <a:off x="9659872" y="7342267"/>
            <a:ext cx="7599428" cy="2279828"/>
          </a:xfrm>
          <a:custGeom>
            <a:avLst/>
            <a:gdLst/>
            <a:ahLst/>
            <a:cxnLst/>
            <a:rect l="l" t="t" r="r" b="b"/>
            <a:pathLst>
              <a:path w="7599428" h="2279828">
                <a:moveTo>
                  <a:pt x="0" y="0"/>
                </a:moveTo>
                <a:lnTo>
                  <a:pt x="7599428" y="0"/>
                </a:lnTo>
                <a:lnTo>
                  <a:pt x="7599428" y="2279829"/>
                </a:lnTo>
                <a:lnTo>
                  <a:pt x="0" y="2279829"/>
                </a:lnTo>
                <a:lnTo>
                  <a:pt x="0" y="0"/>
                </a:lnTo>
                <a:close/>
              </a:path>
            </a:pathLst>
          </a:custGeom>
          <a:blipFill>
            <a:blip r:embed="rId2"/>
            <a:stretch>
              <a:fillRect/>
            </a:stretch>
          </a:blipFill>
        </p:spPr>
      </p:sp>
      <p:sp>
        <p:nvSpPr>
          <p:cNvPr id="5" name="Freeform 5"/>
          <p:cNvSpPr/>
          <p:nvPr/>
        </p:nvSpPr>
        <p:spPr>
          <a:xfrm>
            <a:off x="456161" y="6983830"/>
            <a:ext cx="8491145" cy="2996702"/>
          </a:xfrm>
          <a:custGeom>
            <a:avLst/>
            <a:gdLst/>
            <a:ahLst/>
            <a:cxnLst/>
            <a:rect l="l" t="t" r="r" b="b"/>
            <a:pathLst>
              <a:path w="8491145" h="2996702">
                <a:moveTo>
                  <a:pt x="0" y="0"/>
                </a:moveTo>
                <a:lnTo>
                  <a:pt x="8491145" y="0"/>
                </a:lnTo>
                <a:lnTo>
                  <a:pt x="8491145" y="2996703"/>
                </a:lnTo>
                <a:lnTo>
                  <a:pt x="0" y="2996703"/>
                </a:lnTo>
                <a:lnTo>
                  <a:pt x="0" y="0"/>
                </a:lnTo>
                <a:close/>
              </a:path>
            </a:pathLst>
          </a:custGeom>
          <a:blipFill>
            <a:blip r:embed="rId3"/>
            <a:stretch>
              <a:fillRect t="-35789" b="-63972"/>
            </a:stretch>
          </a:blipFill>
        </p:spPr>
      </p:sp>
      <p:sp>
        <p:nvSpPr>
          <p:cNvPr id="6" name="TextBox 6"/>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5" b="1" spc="843">
                <a:solidFill>
                  <a:srgbClr val="2B2C30"/>
                </a:solidFill>
                <a:latin typeface="Public Sans Bold"/>
                <a:ea typeface="Public Sans Bold"/>
                <a:cs typeface="Public Sans Bold"/>
                <a:sym typeface="Public Sans Bold"/>
              </a:rPr>
              <a:t>DATA ACQUISITION AND CLEANING </a:t>
            </a:r>
            <a:endParaRPr lang="en-US" sz="3715" b="1" spc="843">
              <a:solidFill>
                <a:srgbClr val="2B2C30"/>
              </a:solidFill>
              <a:latin typeface="Public Sans Bold"/>
              <a:ea typeface="Public Sans Bold"/>
              <a:cs typeface="Public Sans Bold"/>
              <a:sym typeface="Public Sans Bold"/>
            </a:endParaRPr>
          </a:p>
        </p:txBody>
      </p:sp>
      <p:sp>
        <p:nvSpPr>
          <p:cNvPr id="7" name="TextBox 7"/>
          <p:cNvSpPr txBox="1"/>
          <p:nvPr/>
        </p:nvSpPr>
        <p:spPr>
          <a:xfrm>
            <a:off x="1145599" y="2068734"/>
            <a:ext cx="5392936" cy="533400"/>
          </a:xfrm>
          <a:prstGeom prst="rect">
            <a:avLst/>
          </a:prstGeom>
        </p:spPr>
        <p:txBody>
          <a:bodyPr lIns="0" tIns="0" rIns="0" bIns="0" rtlCol="0" anchor="t">
            <a:spAutoFit/>
          </a:bodyPr>
          <a:lstStyle/>
          <a:p>
            <a:pPr algn="ctr">
              <a:lnSpc>
                <a:spcPts val="4200"/>
              </a:lnSpc>
            </a:pPr>
            <a:r>
              <a:rPr lang="en-US" sz="3000" b="1">
                <a:solidFill>
                  <a:srgbClr val="2B2C30"/>
                </a:solidFill>
                <a:latin typeface="Public Sans Bold"/>
                <a:ea typeface="Public Sans Bold"/>
                <a:cs typeface="Public Sans Bold"/>
                <a:sym typeface="Public Sans Bold"/>
              </a:rPr>
              <a:t>New Cuisine Type Catagories </a:t>
            </a:r>
            <a:endParaRPr lang="en-US" sz="3000" b="1">
              <a:solidFill>
                <a:srgbClr val="2B2C30"/>
              </a:solidFill>
              <a:latin typeface="Public Sans Bold"/>
              <a:ea typeface="Public Sans Bold"/>
              <a:cs typeface="Public Sans Bold"/>
              <a:sym typeface="Public Sans Bold"/>
            </a:endParaRPr>
          </a:p>
        </p:txBody>
      </p:sp>
      <p:sp>
        <p:nvSpPr>
          <p:cNvPr id="8" name="TextBox 8"/>
          <p:cNvSpPr txBox="1"/>
          <p:nvPr/>
        </p:nvSpPr>
        <p:spPr>
          <a:xfrm>
            <a:off x="9604731" y="6605837"/>
            <a:ext cx="4623643" cy="533400"/>
          </a:xfrm>
          <a:prstGeom prst="rect">
            <a:avLst/>
          </a:prstGeom>
        </p:spPr>
        <p:txBody>
          <a:bodyPr lIns="0" tIns="0" rIns="0" bIns="0" rtlCol="0" anchor="t">
            <a:spAutoFit/>
          </a:bodyPr>
          <a:lstStyle/>
          <a:p>
            <a:pPr algn="ctr">
              <a:lnSpc>
                <a:spcPts val="4200"/>
              </a:lnSpc>
            </a:pPr>
            <a:r>
              <a:rPr lang="en-US" sz="3000" b="1">
                <a:solidFill>
                  <a:srgbClr val="2B2C30"/>
                </a:solidFill>
                <a:latin typeface="Public Sans Bold"/>
                <a:ea typeface="Public Sans Bold"/>
                <a:cs typeface="Public Sans Bold"/>
                <a:sym typeface="Public Sans Bold"/>
              </a:rPr>
              <a:t>New Violation Categories</a:t>
            </a:r>
            <a:endParaRPr lang="en-US" sz="3000" b="1">
              <a:solidFill>
                <a:srgbClr val="2B2C30"/>
              </a:solidFill>
              <a:latin typeface="Public Sans Bold"/>
              <a:ea typeface="Public Sans Bold"/>
              <a:cs typeface="Public Sans Bold"/>
              <a:sym typeface="Public Sans Bold"/>
            </a:endParaRPr>
          </a:p>
        </p:txBody>
      </p:sp>
      <p:sp>
        <p:nvSpPr>
          <p:cNvPr id="9" name="TextBox 9"/>
          <p:cNvSpPr txBox="1"/>
          <p:nvPr/>
        </p:nvSpPr>
        <p:spPr>
          <a:xfrm>
            <a:off x="631026" y="7158287"/>
            <a:ext cx="8566593" cy="2316260"/>
          </a:xfrm>
          <a:prstGeom prst="rect">
            <a:avLst/>
          </a:prstGeom>
        </p:spPr>
        <p:txBody>
          <a:bodyPr lIns="0" tIns="0" rIns="0" bIns="0" rtlCol="0" anchor="t">
            <a:spAutoFit/>
          </a:bodyPr>
          <a:lstStyle/>
          <a:p>
            <a:pPr algn="l">
              <a:lnSpc>
                <a:spcPts val="4630"/>
              </a:lnSpc>
            </a:pPr>
            <a:r>
              <a:rPr lang="en-US" sz="3310" b="1">
                <a:solidFill>
                  <a:srgbClr val="004AAD"/>
                </a:solidFill>
                <a:latin typeface="Public Sans Bold"/>
                <a:ea typeface="Public Sans Bold"/>
                <a:cs typeface="Public Sans Bold"/>
                <a:sym typeface="Public Sans Bold"/>
              </a:rPr>
              <a:t>Cuisine types were grouped into broader categories to facilitate analysis across common culinary practices and regional characteristics</a:t>
            </a:r>
            <a:endParaRPr lang="en-US" sz="3310" b="1">
              <a:solidFill>
                <a:srgbClr val="004AAD"/>
              </a:solidFill>
              <a:latin typeface="Public Sans Bold"/>
              <a:ea typeface="Public Sans Bold"/>
              <a:cs typeface="Public Sans Bold"/>
              <a:sym typeface="Public Sans Bold"/>
            </a:endParaRPr>
          </a:p>
        </p:txBody>
      </p:sp>
      <p:sp>
        <p:nvSpPr>
          <p:cNvPr id="10" name="TextBox 10"/>
          <p:cNvSpPr txBox="1"/>
          <p:nvPr/>
        </p:nvSpPr>
        <p:spPr>
          <a:xfrm>
            <a:off x="9144000" y="3046804"/>
            <a:ext cx="8566593" cy="2897285"/>
          </a:xfrm>
          <a:prstGeom prst="rect">
            <a:avLst/>
          </a:prstGeom>
        </p:spPr>
        <p:txBody>
          <a:bodyPr lIns="0" tIns="0" rIns="0" bIns="0" rtlCol="0" anchor="t">
            <a:spAutoFit/>
          </a:bodyPr>
          <a:lstStyle/>
          <a:p>
            <a:pPr algn="l">
              <a:lnSpc>
                <a:spcPts val="4630"/>
              </a:lnSpc>
            </a:pPr>
            <a:r>
              <a:rPr lang="en-US" sz="3310" b="1">
                <a:solidFill>
                  <a:srgbClr val="004AAD"/>
                </a:solidFill>
                <a:latin typeface="Public Sans Bold"/>
                <a:ea typeface="Public Sans Bold"/>
                <a:cs typeface="Public Sans Bold"/>
                <a:sym typeface="Public Sans Bold"/>
              </a:rPr>
              <a:t>Violation codes were aggregated into thematic categories reflecting the nature of the compliance issue, allowing for targeted insights into common areas of concern. </a:t>
            </a:r>
            <a:endParaRPr lang="en-US" sz="3310" b="1">
              <a:solidFill>
                <a:srgbClr val="004AAD"/>
              </a:solidFill>
              <a:latin typeface="Public Sans Bold"/>
              <a:ea typeface="Public Sans Bold"/>
              <a:cs typeface="Public Sans Bold"/>
              <a:sym typeface="Public Sans Bold"/>
            </a:endParaRPr>
          </a:p>
        </p:txBody>
      </p:sp>
      <p:sp>
        <p:nvSpPr>
          <p:cNvPr id="11" name="Freeform 11"/>
          <p:cNvSpPr/>
          <p:nvPr/>
        </p:nvSpPr>
        <p:spPr>
          <a:xfrm>
            <a:off x="8947306" y="2943036"/>
            <a:ext cx="8763287" cy="2996702"/>
          </a:xfrm>
          <a:custGeom>
            <a:avLst/>
            <a:gdLst/>
            <a:ahLst/>
            <a:cxnLst/>
            <a:rect l="l" t="t" r="r" b="b"/>
            <a:pathLst>
              <a:path w="8763287" h="2996702">
                <a:moveTo>
                  <a:pt x="0" y="0"/>
                </a:moveTo>
                <a:lnTo>
                  <a:pt x="8763287" y="0"/>
                </a:lnTo>
                <a:lnTo>
                  <a:pt x="8763287" y="2996702"/>
                </a:lnTo>
                <a:lnTo>
                  <a:pt x="0" y="2996702"/>
                </a:lnTo>
                <a:lnTo>
                  <a:pt x="0" y="0"/>
                </a:lnTo>
                <a:close/>
              </a:path>
            </a:pathLst>
          </a:custGeom>
          <a:blipFill>
            <a:blip r:embed="rId3"/>
            <a:stretch>
              <a:fillRect t="-38538" b="-67625"/>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4" name="TextBox 3"/>
          <p:cNvSpPr txBox="1"/>
          <p:nvPr/>
        </p:nvSpPr>
        <p:spPr>
          <a:xfrm>
            <a:off x="976390" y="419100"/>
            <a:ext cx="16230600" cy="631776"/>
          </a:xfrm>
          <a:prstGeom prst="rect">
            <a:avLst/>
          </a:prstGeom>
        </p:spPr>
        <p:txBody>
          <a:bodyPr lIns="0" tIns="0" rIns="0" bIns="0" rtlCol="0" anchor="t">
            <a:spAutoFit/>
          </a:bodyPr>
          <a:lstStyle/>
          <a:p>
            <a:pPr>
              <a:lnSpc>
                <a:spcPts val="5200"/>
              </a:lnSpc>
              <a:spcBef>
                <a:spcPct val="0"/>
              </a:spcBef>
            </a:pPr>
            <a:r>
              <a:rPr lang="en-US" altLang="zh-CN" sz="4000" dirty="0"/>
              <a:t>Distribution of Average Inspection Scores by Borough (2024)</a:t>
            </a:r>
            <a:endParaRPr lang="en-US" sz="3715" b="1" spc="843" dirty="0">
              <a:solidFill>
                <a:srgbClr val="2B2C30"/>
              </a:solidFill>
              <a:latin typeface="Public Sans Bold"/>
              <a:ea typeface="Public Sans Bold"/>
              <a:cs typeface="Public Sans Bold"/>
              <a:sym typeface="Public Sans Bold"/>
            </a:endParaRPr>
          </a:p>
        </p:txBody>
      </p:sp>
      <p:sp>
        <p:nvSpPr>
          <p:cNvPr id="5" name="AutoShape 2"/>
          <p:cNvSpPr/>
          <p:nvPr/>
        </p:nvSpPr>
        <p:spPr>
          <a:xfrm flipV="1">
            <a:off x="991636" y="1043904"/>
            <a:ext cx="16230594" cy="38509"/>
          </a:xfrm>
          <a:prstGeom prst="line">
            <a:avLst/>
          </a:prstGeom>
          <a:ln w="9525" cap="flat">
            <a:solidFill>
              <a:srgbClr val="2B2C30"/>
            </a:solidFill>
            <a:prstDash val="solid"/>
            <a:headEnd type="none" w="sm" len="sm"/>
            <a:tailEnd type="none" w="sm" len="sm"/>
          </a:ln>
        </p:spPr>
      </p:sp>
      <p:pic>
        <p:nvPicPr>
          <p:cNvPr id="6" name="图片 5"/>
          <p:cNvPicPr>
            <a:picLocks noChangeAspect="1"/>
          </p:cNvPicPr>
          <p:nvPr/>
        </p:nvPicPr>
        <p:blipFill>
          <a:blip r:embed="rId1"/>
          <a:stretch>
            <a:fillRect/>
          </a:stretch>
        </p:blipFill>
        <p:spPr>
          <a:xfrm>
            <a:off x="609600" y="3247996"/>
            <a:ext cx="13760689" cy="6828264"/>
          </a:xfrm>
          <a:prstGeom prst="rect">
            <a:avLst/>
          </a:prstGeom>
        </p:spPr>
      </p:pic>
      <p:sp>
        <p:nvSpPr>
          <p:cNvPr id="7" name="文本框 6"/>
          <p:cNvSpPr txBox="1"/>
          <p:nvPr/>
        </p:nvSpPr>
        <p:spPr>
          <a:xfrm>
            <a:off x="991636" y="1331427"/>
            <a:ext cx="4914912" cy="584775"/>
          </a:xfrm>
          <a:prstGeom prst="rect">
            <a:avLst/>
          </a:prstGeom>
          <a:noFill/>
        </p:spPr>
        <p:txBody>
          <a:bodyPr wrap="square" rtlCol="0">
            <a:spAutoFit/>
          </a:bodyPr>
          <a:lstStyle/>
          <a:p>
            <a:r>
              <a:rPr lang="en-US" altLang="zh-CN" sz="3200" dirty="0"/>
              <a:t>Score </a:t>
            </a:r>
            <a:r>
              <a:rPr lang="en-US" altLang="zh-CN" sz="3200" dirty="0" smtClean="0"/>
              <a:t>Distribution Pattern</a:t>
            </a:r>
            <a:endParaRPr lang="en-US" altLang="zh-CN" sz="3200" dirty="0" smtClean="0"/>
          </a:p>
        </p:txBody>
      </p:sp>
      <p:sp>
        <p:nvSpPr>
          <p:cNvPr id="14" name="Rectangle 6"/>
          <p:cNvSpPr>
            <a:spLocks noChangeArrowheads="1"/>
          </p:cNvSpPr>
          <p:nvPr/>
        </p:nvSpPr>
        <p:spPr bwMode="auto">
          <a:xfrm>
            <a:off x="863124" y="1770668"/>
            <a:ext cx="824380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000" b="0" i="0" u="none" strike="noStrike" cap="none" normalizeH="0" baseline="0" dirty="0" smtClean="0">
                <a:ln>
                  <a:noFill/>
                </a:ln>
                <a:solidFill>
                  <a:schemeClr val="tx1"/>
                </a:solidFill>
                <a:effectLst/>
                <a:latin typeface="Arial" panose="020B0604020202090204" pitchFamily="34" charset="0"/>
              </a:rPr>
              <a:t>Median scores: consistent across boroughs (10-15 points) </a:t>
            </a:r>
            <a:endParaRPr kumimoji="0" lang="zh-CN" altLang="zh-CN" sz="20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000" b="0" i="0" u="none" strike="noStrike" cap="none" normalizeH="0" baseline="0" dirty="0" smtClean="0">
                <a:ln>
                  <a:noFill/>
                </a:ln>
                <a:solidFill>
                  <a:schemeClr val="tx1"/>
                </a:solidFill>
                <a:effectLst/>
                <a:latin typeface="Arial" panose="020B0604020202090204" pitchFamily="34" charset="0"/>
              </a:rPr>
              <a:t>Score range: majority within 0-40 points </a:t>
            </a:r>
            <a:endParaRPr kumimoji="0" lang="zh-CN" altLang="zh-CN" sz="2000" b="0" i="0" u="none" strike="noStrike" cap="none" normalizeH="0" baseline="0" dirty="0" smtClean="0">
              <a:ln>
                <a:noFill/>
              </a:ln>
              <a:solidFill>
                <a:schemeClr val="tx1"/>
              </a:solidFill>
              <a:effectLst/>
              <a:latin typeface="Arial" panose="020B0604020202090204" pitchFamily="34" charset="0"/>
            </a:endParaRPr>
          </a:p>
        </p:txBody>
      </p:sp>
      <p:sp>
        <p:nvSpPr>
          <p:cNvPr id="15" name="矩形 14"/>
          <p:cNvSpPr/>
          <p:nvPr/>
        </p:nvSpPr>
        <p:spPr>
          <a:xfrm>
            <a:off x="8811358" y="1322746"/>
            <a:ext cx="3632533" cy="523220"/>
          </a:xfrm>
          <a:prstGeom prst="rect">
            <a:avLst/>
          </a:prstGeom>
        </p:spPr>
        <p:txBody>
          <a:bodyPr wrap="none">
            <a:spAutoFit/>
          </a:bodyPr>
          <a:lstStyle/>
          <a:p>
            <a:r>
              <a:rPr lang="en-US" altLang="zh-CN" sz="2800" dirty="0"/>
              <a:t>Borough Characteristics</a:t>
            </a:r>
            <a:endParaRPr lang="zh-CN" altLang="en-US" sz="2800" dirty="0"/>
          </a:p>
        </p:txBody>
      </p:sp>
      <p:sp>
        <p:nvSpPr>
          <p:cNvPr id="16" name="Rectangle 7"/>
          <p:cNvSpPr>
            <a:spLocks noChangeArrowheads="1"/>
          </p:cNvSpPr>
          <p:nvPr/>
        </p:nvSpPr>
        <p:spPr bwMode="auto">
          <a:xfrm>
            <a:off x="8811358" y="1657540"/>
            <a:ext cx="536184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0" i="0" u="none" strike="noStrike" cap="none" normalizeH="0" baseline="0" dirty="0" smtClean="0">
                <a:ln>
                  <a:noFill/>
                </a:ln>
                <a:solidFill>
                  <a:schemeClr val="tx1"/>
                </a:solidFill>
                <a:effectLst/>
                <a:latin typeface="Arial" panose="020B0604020202090204" pitchFamily="34" charset="0"/>
              </a:rPr>
              <a:t>Staten Island: most concentrated distribution </a:t>
            </a:r>
            <a:endParaRPr kumimoji="0" lang="zh-CN" altLang="zh-CN" sz="18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0" i="0" u="none" strike="noStrike" cap="none" normalizeH="0" baseline="0" dirty="0" smtClean="0">
                <a:ln>
                  <a:noFill/>
                </a:ln>
                <a:solidFill>
                  <a:schemeClr val="tx1"/>
                </a:solidFill>
                <a:effectLst/>
                <a:latin typeface="Arial" panose="020B0604020202090204" pitchFamily="34" charset="0"/>
              </a:rPr>
              <a:t>Brooklyn &amp; Queens: wider variations </a:t>
            </a:r>
            <a:endParaRPr kumimoji="0" lang="zh-CN" altLang="zh-CN" sz="18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0" i="0" u="none" strike="noStrike" cap="none" normalizeH="0" baseline="0" dirty="0" smtClean="0">
                <a:ln>
                  <a:noFill/>
                </a:ln>
                <a:solidFill>
                  <a:schemeClr val="tx1"/>
                </a:solidFill>
                <a:effectLst/>
                <a:latin typeface="Arial" panose="020B0604020202090204" pitchFamily="34" charset="0"/>
              </a:rPr>
              <a:t>Manhattan: slightly higher median scores </a:t>
            </a:r>
            <a:endParaRPr kumimoji="0" lang="zh-CN" altLang="zh-CN" sz="18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800" b="0" i="0" u="none" strike="noStrike" cap="none" normalizeH="0" baseline="0" dirty="0" smtClean="0">
                <a:ln>
                  <a:noFill/>
                </a:ln>
                <a:solidFill>
                  <a:schemeClr val="tx1"/>
                </a:solidFill>
                <a:effectLst/>
                <a:latin typeface="Arial" panose="020B0604020202090204" pitchFamily="34" charset="0"/>
              </a:rPr>
              <a:t>The Bronx: aligned with city average </a:t>
            </a:r>
            <a:endParaRPr kumimoji="0" lang="zh-CN" altLang="zh-CN" sz="1800" b="0" i="0" u="none" strike="noStrike" cap="none" normalizeH="0" baseline="0" dirty="0" smtClean="0">
              <a:ln>
                <a:noFill/>
              </a:ln>
              <a:solidFill>
                <a:schemeClr val="tx1"/>
              </a:solidFill>
              <a:effectLst/>
              <a:latin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990600" y="1104900"/>
            <a:ext cx="16230594" cy="38509"/>
          </a:xfrm>
          <a:prstGeom prst="line">
            <a:avLst/>
          </a:prstGeom>
          <a:ln w="9525" cap="flat">
            <a:solidFill>
              <a:srgbClr val="2B2C30"/>
            </a:solidFill>
            <a:prstDash val="solid"/>
            <a:headEnd type="none" w="sm" len="sm"/>
            <a:tailEnd type="none" w="sm" len="sm"/>
          </a:ln>
        </p:spPr>
      </p:sp>
      <p:sp>
        <p:nvSpPr>
          <p:cNvPr id="6" name="矩形 5"/>
          <p:cNvSpPr/>
          <p:nvPr/>
        </p:nvSpPr>
        <p:spPr>
          <a:xfrm>
            <a:off x="990600" y="406086"/>
            <a:ext cx="11898450" cy="707886"/>
          </a:xfrm>
          <a:prstGeom prst="rect">
            <a:avLst/>
          </a:prstGeom>
        </p:spPr>
        <p:txBody>
          <a:bodyPr wrap="none">
            <a:spAutoFit/>
          </a:bodyPr>
          <a:lstStyle/>
          <a:p>
            <a:r>
              <a:rPr lang="en-US" altLang="zh-CN" sz="4000" dirty="0" smtClean="0"/>
              <a:t>Top 10 Cuisine Types by Average Inspection Score (2024)</a:t>
            </a:r>
            <a:endParaRPr lang="zh-CN" altLang="en-US" sz="4000" dirty="0"/>
          </a:p>
        </p:txBody>
      </p:sp>
      <p:pic>
        <p:nvPicPr>
          <p:cNvPr id="7" name="图片 6"/>
          <p:cNvPicPr>
            <a:picLocks noChangeAspect="1"/>
          </p:cNvPicPr>
          <p:nvPr/>
        </p:nvPicPr>
        <p:blipFill>
          <a:blip r:embed="rId1"/>
          <a:stretch>
            <a:fillRect/>
          </a:stretch>
        </p:blipFill>
        <p:spPr>
          <a:xfrm>
            <a:off x="990600" y="2781299"/>
            <a:ext cx="15697200" cy="7410353"/>
          </a:xfrm>
          <a:prstGeom prst="rect">
            <a:avLst/>
          </a:prstGeom>
        </p:spPr>
      </p:pic>
      <p:sp>
        <p:nvSpPr>
          <p:cNvPr id="8" name="文本框 7"/>
          <p:cNvSpPr txBox="1"/>
          <p:nvPr/>
        </p:nvSpPr>
        <p:spPr>
          <a:xfrm>
            <a:off x="1205723" y="1562100"/>
            <a:ext cx="11468204" cy="954107"/>
          </a:xfrm>
          <a:prstGeom prst="rect">
            <a:avLst/>
          </a:prstGeom>
          <a:noFill/>
        </p:spPr>
        <p:txBody>
          <a:bodyPr wrap="none" rtlCol="0">
            <a:spAutoFit/>
          </a:bodyPr>
          <a:lstStyle/>
          <a:p>
            <a:r>
              <a:rPr lang="en-US" altLang="zh-CN" sz="2800" dirty="0"/>
              <a:t>Conclusion: Traditional Asian cuisines consistently maintain moderate scores, </a:t>
            </a:r>
            <a:endParaRPr lang="en-US" altLang="zh-CN" sz="2800" dirty="0" smtClean="0"/>
          </a:p>
          <a:p>
            <a:r>
              <a:rPr lang="en-US" altLang="zh-CN" sz="2800" dirty="0" smtClean="0"/>
              <a:t>while </a:t>
            </a:r>
            <a:r>
              <a:rPr lang="en-US" altLang="zh-CN" sz="2800" dirty="0"/>
              <a:t>specialty cuisines show higher but more variable performance.</a:t>
            </a:r>
            <a:endParaRPr lang="zh-CN"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3" name="TextBox 3"/>
          <p:cNvSpPr txBox="1"/>
          <p:nvPr/>
        </p:nvSpPr>
        <p:spPr>
          <a:xfrm>
            <a:off x="841179" y="505145"/>
            <a:ext cx="14483145" cy="1013098"/>
          </a:xfrm>
          <a:prstGeom prst="rect">
            <a:avLst/>
          </a:prstGeom>
        </p:spPr>
        <p:txBody>
          <a:bodyPr lIns="0" tIns="0" rIns="0" bIns="0" rtlCol="0" anchor="t">
            <a:spAutoFit/>
          </a:bodyPr>
          <a:lstStyle/>
          <a:p>
            <a:pPr>
              <a:lnSpc>
                <a:spcPts val="7865"/>
              </a:lnSpc>
            </a:pPr>
            <a:r>
              <a:rPr lang="en-US" altLang="zh-CN" sz="6600" dirty="0"/>
              <a:t>Monthly Average Inspection Scores (2024)</a:t>
            </a:r>
            <a:endParaRPr lang="en-US" sz="6050" spc="30" dirty="0">
              <a:solidFill>
                <a:srgbClr val="2B2C30"/>
              </a:solidFill>
              <a:latin typeface="Public Sans"/>
              <a:ea typeface="Public Sans"/>
              <a:cs typeface="Public Sans"/>
              <a:sym typeface="Public Sans"/>
            </a:endParaRPr>
          </a:p>
        </p:txBody>
      </p:sp>
      <p:pic>
        <p:nvPicPr>
          <p:cNvPr id="7" name="图片 6"/>
          <p:cNvPicPr>
            <a:picLocks noChangeAspect="1"/>
          </p:cNvPicPr>
          <p:nvPr/>
        </p:nvPicPr>
        <p:blipFill>
          <a:blip r:embed="rId1"/>
          <a:stretch>
            <a:fillRect/>
          </a:stretch>
        </p:blipFill>
        <p:spPr>
          <a:xfrm>
            <a:off x="1095661" y="3086100"/>
            <a:ext cx="13974179" cy="6934200"/>
          </a:xfrm>
          <a:prstGeom prst="rect">
            <a:avLst/>
          </a:prstGeom>
        </p:spPr>
      </p:pic>
      <p:sp>
        <p:nvSpPr>
          <p:cNvPr id="8" name="文本框 7"/>
          <p:cNvSpPr txBox="1"/>
          <p:nvPr/>
        </p:nvSpPr>
        <p:spPr>
          <a:xfrm>
            <a:off x="1095661" y="1825118"/>
            <a:ext cx="16393334" cy="954107"/>
          </a:xfrm>
          <a:prstGeom prst="rect">
            <a:avLst/>
          </a:prstGeom>
          <a:noFill/>
        </p:spPr>
        <p:txBody>
          <a:bodyPr wrap="none" rtlCol="0">
            <a:spAutoFit/>
          </a:bodyPr>
          <a:lstStyle/>
          <a:p>
            <a:r>
              <a:rPr lang="en-US" altLang="zh-CN" sz="2800" dirty="0"/>
              <a:t>Conclusion: Restaurant inspection scores show clear seasonal patterns, with highest scores in summer months, </a:t>
            </a:r>
            <a:endParaRPr lang="en-US" altLang="zh-CN" sz="2800" dirty="0" smtClean="0"/>
          </a:p>
          <a:p>
            <a:r>
              <a:rPr lang="en-US" altLang="zh-CN" sz="2800" dirty="0" smtClean="0"/>
              <a:t>suggesting </a:t>
            </a:r>
            <a:r>
              <a:rPr lang="en-US" altLang="zh-CN" sz="2800" dirty="0"/>
              <a:t>potential impact of seasonal factors on food safety compliance.</a:t>
            </a:r>
            <a:endParaRPr lang="zh-CN"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06871" y="942975"/>
            <a:ext cx="16230600" cy="631776"/>
          </a:xfrm>
          <a:prstGeom prst="rect">
            <a:avLst/>
          </a:prstGeom>
        </p:spPr>
        <p:txBody>
          <a:bodyPr lIns="0" tIns="0" rIns="0" bIns="0" rtlCol="0" anchor="t">
            <a:spAutoFit/>
          </a:bodyPr>
          <a:lstStyle/>
          <a:p>
            <a:pPr>
              <a:lnSpc>
                <a:spcPts val="5200"/>
              </a:lnSpc>
              <a:spcBef>
                <a:spcPct val="0"/>
              </a:spcBef>
            </a:pPr>
            <a:r>
              <a:rPr lang="en-US" altLang="zh-CN" sz="4000" dirty="0"/>
              <a:t>Relationship Between Inspection Count and Average Score (2024)</a:t>
            </a:r>
            <a:endParaRPr lang="en-US" sz="3715" b="1" spc="843" dirty="0">
              <a:solidFill>
                <a:srgbClr val="2B2C30"/>
              </a:solidFill>
              <a:latin typeface="Public Sans Bold"/>
              <a:ea typeface="Public Sans Bold"/>
              <a:cs typeface="Public Sans Bold"/>
              <a:sym typeface="Public Sans Bold"/>
            </a:endParaRPr>
          </a:p>
        </p:txBody>
      </p:sp>
      <p:sp>
        <p:nvSpPr>
          <p:cNvPr id="3" name="AutoShape 3"/>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pic>
        <p:nvPicPr>
          <p:cNvPr id="6" name="图片 5"/>
          <p:cNvPicPr>
            <a:picLocks noChangeAspect="1"/>
          </p:cNvPicPr>
          <p:nvPr/>
        </p:nvPicPr>
        <p:blipFill>
          <a:blip r:embed="rId1"/>
          <a:stretch>
            <a:fillRect/>
          </a:stretch>
        </p:blipFill>
        <p:spPr>
          <a:xfrm>
            <a:off x="762000" y="2247900"/>
            <a:ext cx="9453575" cy="8039100"/>
          </a:xfrm>
          <a:prstGeom prst="rect">
            <a:avLst/>
          </a:prstGeom>
        </p:spPr>
      </p:pic>
      <p:sp>
        <p:nvSpPr>
          <p:cNvPr id="10" name="Rectangle 3"/>
          <p:cNvSpPr>
            <a:spLocks noChangeArrowheads="1"/>
          </p:cNvSpPr>
          <p:nvPr/>
        </p:nvSpPr>
        <p:spPr bwMode="auto">
          <a:xfrm>
            <a:off x="10820401" y="2259563"/>
            <a:ext cx="7162800"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Higher variability in scores with 4-8 inspections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Queens shows highest single score (~155)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Most restaurants: 2-8 inspections/year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Score spread increases with inspection frequency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p:txBody>
      </p:sp>
      <p:sp>
        <p:nvSpPr>
          <p:cNvPr id="11" name="文本框 10"/>
          <p:cNvSpPr txBox="1"/>
          <p:nvPr/>
        </p:nvSpPr>
        <p:spPr>
          <a:xfrm>
            <a:off x="10820401" y="6229350"/>
            <a:ext cx="7696200" cy="2246769"/>
          </a:xfrm>
          <a:prstGeom prst="rect">
            <a:avLst/>
          </a:prstGeom>
          <a:noFill/>
        </p:spPr>
        <p:txBody>
          <a:bodyPr wrap="square" rtlCol="0">
            <a:spAutoFit/>
          </a:bodyPr>
          <a:lstStyle/>
          <a:p>
            <a:r>
              <a:rPr lang="en-US" altLang="zh-CN" sz="2800" b="1" dirty="0"/>
              <a:t>Conclusion: </a:t>
            </a:r>
            <a:endParaRPr lang="en-US" altLang="zh-CN" sz="2800" b="1" dirty="0" smtClean="0"/>
          </a:p>
          <a:p>
            <a:r>
              <a:rPr lang="en-US" altLang="zh-CN" sz="2800" b="1" dirty="0" smtClean="0"/>
              <a:t>More </a:t>
            </a:r>
            <a:r>
              <a:rPr lang="en-US" altLang="zh-CN" sz="2800" b="1" dirty="0"/>
              <a:t>frequent inspections don't necessarily correlate with higher or lower scores, suggesting inspection frequency may be driven by other factors.</a:t>
            </a:r>
            <a:endParaRPr lang="zh-CN" altLang="en-US" sz="2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5" name="TextBox 5"/>
          <p:cNvSpPr txBox="1"/>
          <p:nvPr/>
        </p:nvSpPr>
        <p:spPr>
          <a:xfrm>
            <a:off x="1006871" y="942975"/>
            <a:ext cx="17017139" cy="615553"/>
          </a:xfrm>
          <a:prstGeom prst="rect">
            <a:avLst/>
          </a:prstGeom>
        </p:spPr>
        <p:txBody>
          <a:bodyPr lIns="0" tIns="0" rIns="0" bIns="0" rtlCol="0" anchor="t">
            <a:spAutoFit/>
          </a:bodyPr>
          <a:lstStyle/>
          <a:p>
            <a:r>
              <a:rPr lang="en-US" altLang="zh-CN" sz="4000" b="1" dirty="0"/>
              <a:t>Model Performance </a:t>
            </a:r>
            <a:r>
              <a:rPr lang="en-US" altLang="zh-CN" sz="4000" b="1" dirty="0" smtClean="0"/>
              <a:t>Comparison Models </a:t>
            </a:r>
            <a:r>
              <a:rPr lang="en-US" altLang="zh-CN" sz="4000" b="1" dirty="0"/>
              <a:t>Evaluated</a:t>
            </a:r>
            <a:endParaRPr lang="en-US" altLang="zh-CN" sz="4000" b="1" dirty="0"/>
          </a:p>
        </p:txBody>
      </p:sp>
      <p:graphicFrame>
        <p:nvGraphicFramePr>
          <p:cNvPr id="9" name="表格 8"/>
          <p:cNvGraphicFramePr>
            <a:graphicFrameLocks noGrp="1"/>
          </p:cNvGraphicFramePr>
          <p:nvPr/>
        </p:nvGraphicFramePr>
        <p:xfrm>
          <a:off x="609598" y="2140416"/>
          <a:ext cx="12953164" cy="4724400"/>
        </p:xfrm>
        <a:graphic>
          <a:graphicData uri="http://schemas.openxmlformats.org/drawingml/2006/table">
            <a:tbl>
              <a:tblPr>
                <a:tableStyleId>{5C22544A-7EE6-4342-B048-85BDC9FD1C3A}</a:tableStyleId>
              </a:tblPr>
              <a:tblGrid>
                <a:gridCol w="2590802"/>
                <a:gridCol w="1822100"/>
                <a:gridCol w="1606900"/>
                <a:gridCol w="2157046"/>
                <a:gridCol w="2491991"/>
                <a:gridCol w="2284325"/>
              </a:tblGrid>
              <a:tr h="726831">
                <a:tc>
                  <a:txBody>
                    <a:bodyPr/>
                    <a:lstStyle/>
                    <a:p>
                      <a:pPr algn="ctr" fontAlgn="ctr"/>
                      <a:r>
                        <a:rPr lang="en-US" sz="2200" b="1" u="none" strike="noStrike" dirty="0">
                          <a:effectLst/>
                        </a:rPr>
                        <a:t>Model</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ctr" fontAlgn="ctr"/>
                      <a:r>
                        <a:rPr lang="en-US" sz="2200" b="1" u="none" strike="noStrike" dirty="0">
                          <a:effectLst/>
                        </a:rPr>
                        <a:t>Train R²</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ctr" fontAlgn="ctr"/>
                      <a:r>
                        <a:rPr lang="en-US" sz="2200" b="1" u="none" strike="noStrike" dirty="0">
                          <a:effectLst/>
                        </a:rPr>
                        <a:t>Test R²</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ctr" fontAlgn="ctr"/>
                      <a:r>
                        <a:rPr lang="en-US" sz="2200" b="1" u="none" strike="noStrike" dirty="0">
                          <a:effectLst/>
                        </a:rPr>
                        <a:t>Train RMSE</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ctr" fontAlgn="ctr"/>
                      <a:r>
                        <a:rPr lang="en-US" sz="2200" b="1" u="none" strike="noStrike" dirty="0">
                          <a:effectLst/>
                        </a:rPr>
                        <a:t>Test RMSE</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ctr" fontAlgn="ctr"/>
                      <a:r>
                        <a:rPr lang="en-US" sz="2200" b="1" u="none" strike="noStrike" dirty="0">
                          <a:effectLst/>
                        </a:rPr>
                        <a:t>CV R² (mean)</a:t>
                      </a:r>
                      <a:endParaRPr lang="en-US" sz="2200" b="1" i="0" u="none" strike="noStrike" dirty="0">
                        <a:solidFill>
                          <a:srgbClr val="000000"/>
                        </a:solidFill>
                        <a:effectLst/>
                        <a:latin typeface="等线" pitchFamily="2" charset="-122"/>
                        <a:ea typeface="等线" pitchFamily="2" charset="-122"/>
                      </a:endParaRPr>
                    </a:p>
                  </a:txBody>
                  <a:tcPr marL="12979" marR="12979" marT="12979" marB="0" anchor="ctr"/>
                </a:tc>
              </a:tr>
              <a:tr h="1090246">
                <a:tc>
                  <a:txBody>
                    <a:bodyPr/>
                    <a:lstStyle/>
                    <a:p>
                      <a:pPr algn="l" fontAlgn="ctr"/>
                      <a:r>
                        <a:rPr lang="en-US" sz="2200" u="none" strike="noStrike">
                          <a:effectLst/>
                        </a:rPr>
                        <a:t>Linear Regression</a:t>
                      </a:r>
                      <a:endParaRPr lang="en-US"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0.7395</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0.7364</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4.4542</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4.6731</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0.7397</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r>
              <a:tr h="1090246">
                <a:tc>
                  <a:txBody>
                    <a:bodyPr/>
                    <a:lstStyle/>
                    <a:p>
                      <a:pPr algn="l" fontAlgn="ctr"/>
                      <a:r>
                        <a:rPr lang="en-US" sz="2200" u="none" strike="noStrike">
                          <a:effectLst/>
                        </a:rPr>
                        <a:t>Ridge Regression</a:t>
                      </a:r>
                      <a:endParaRPr lang="en-US"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dirty="0">
                          <a:effectLst/>
                        </a:rPr>
                        <a:t>0.7395</a:t>
                      </a:r>
                      <a:endParaRPr lang="en-US" altLang="zh-CN" sz="2200" b="0"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dirty="0">
                          <a:effectLst/>
                        </a:rPr>
                        <a:t>0.7363</a:t>
                      </a:r>
                      <a:endParaRPr lang="en-US" altLang="zh-CN" sz="2200" b="0" i="0" u="none" strike="noStrike" dirty="0">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4.4543</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4.6735</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0.7397</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r>
              <a:tr h="1090246">
                <a:tc>
                  <a:txBody>
                    <a:bodyPr/>
                    <a:lstStyle/>
                    <a:p>
                      <a:pPr algn="l" fontAlgn="ctr"/>
                      <a:r>
                        <a:rPr lang="en-US" sz="2200" u="none" strike="noStrike">
                          <a:effectLst/>
                        </a:rPr>
                        <a:t>Lasso Regression</a:t>
                      </a:r>
                      <a:endParaRPr lang="en-US"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0.7393</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0.7361</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4.4559</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4.6752</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0.7396</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r>
              <a:tr h="726831">
                <a:tc>
                  <a:txBody>
                    <a:bodyPr/>
                    <a:lstStyle/>
                    <a:p>
                      <a:pPr algn="l" fontAlgn="ctr"/>
                      <a:r>
                        <a:rPr lang="en-US" sz="2200" u="none" strike="noStrike">
                          <a:effectLst/>
                        </a:rPr>
                        <a:t>Random Forest</a:t>
                      </a:r>
                      <a:endParaRPr lang="en-US"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0.8706</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0.8487</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3.1401</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a:effectLst/>
                        </a:rPr>
                        <a:t>3.5405</a:t>
                      </a:r>
                      <a:endParaRPr lang="en-US" altLang="zh-CN" sz="2200" b="0" i="0" u="none" strike="noStrike">
                        <a:solidFill>
                          <a:srgbClr val="000000"/>
                        </a:solidFill>
                        <a:effectLst/>
                        <a:latin typeface="等线" pitchFamily="2" charset="-122"/>
                        <a:ea typeface="等线" pitchFamily="2" charset="-122"/>
                      </a:endParaRPr>
                    </a:p>
                  </a:txBody>
                  <a:tcPr marL="12979" marR="12979" marT="12979" marB="0" anchor="ctr"/>
                </a:tc>
                <a:tc>
                  <a:txBody>
                    <a:bodyPr/>
                    <a:lstStyle/>
                    <a:p>
                      <a:pPr algn="r" fontAlgn="ctr"/>
                      <a:r>
                        <a:rPr lang="en-US" altLang="zh-CN" sz="2200" u="none" strike="noStrike" dirty="0">
                          <a:effectLst/>
                        </a:rPr>
                        <a:t>0.8386</a:t>
                      </a:r>
                      <a:endParaRPr lang="en-US" altLang="zh-CN" sz="2200" b="0" i="0" u="none" strike="noStrike" dirty="0">
                        <a:solidFill>
                          <a:srgbClr val="000000"/>
                        </a:solidFill>
                        <a:effectLst/>
                        <a:latin typeface="等线" pitchFamily="2" charset="-122"/>
                        <a:ea typeface="等线" pitchFamily="2" charset="-122"/>
                      </a:endParaRPr>
                    </a:p>
                  </a:txBody>
                  <a:tcPr marL="12979" marR="12979" marT="12979" marB="0" anchor="ctr"/>
                </a:tc>
              </a:tr>
            </a:tbl>
          </a:graphicData>
        </a:graphic>
      </p:graphicFrame>
      <p:sp>
        <p:nvSpPr>
          <p:cNvPr id="10" name="文本框 9"/>
          <p:cNvSpPr txBox="1"/>
          <p:nvPr/>
        </p:nvSpPr>
        <p:spPr>
          <a:xfrm>
            <a:off x="594358" y="7069350"/>
            <a:ext cx="11507830" cy="954107"/>
          </a:xfrm>
          <a:prstGeom prst="rect">
            <a:avLst/>
          </a:prstGeom>
          <a:noFill/>
        </p:spPr>
        <p:txBody>
          <a:bodyPr wrap="none" rtlCol="0">
            <a:spAutoFit/>
          </a:bodyPr>
          <a:lstStyle/>
          <a:p>
            <a:r>
              <a:rPr lang="en-US" altLang="zh-CN" sz="2800" b="1" dirty="0"/>
              <a:t>Random Forest is the optimal choice for this prediction task, demonstrating:</a:t>
            </a:r>
            <a:endParaRPr lang="en-US" altLang="zh-CN" sz="2800" dirty="0"/>
          </a:p>
          <a:p>
            <a:endParaRPr lang="zh-CN" altLang="en-US" sz="2800" dirty="0"/>
          </a:p>
        </p:txBody>
      </p:sp>
      <p:sp>
        <p:nvSpPr>
          <p:cNvPr id="12" name="Rectangle 2"/>
          <p:cNvSpPr>
            <a:spLocks noChangeArrowheads="1"/>
          </p:cNvSpPr>
          <p:nvPr/>
        </p:nvSpPr>
        <p:spPr bwMode="auto">
          <a:xfrm>
            <a:off x="609598" y="7600339"/>
            <a:ext cx="1325880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15% better prediction accuracy than linear models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24% lower prediction error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Robust performance across cross-validation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No significant overfitting (Train-Test gap: 0.022)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5" name="TextBox 5"/>
          <p:cNvSpPr txBox="1"/>
          <p:nvPr/>
        </p:nvSpPr>
        <p:spPr>
          <a:xfrm>
            <a:off x="1006871" y="942975"/>
            <a:ext cx="16230600" cy="615553"/>
          </a:xfrm>
          <a:prstGeom prst="rect">
            <a:avLst/>
          </a:prstGeom>
        </p:spPr>
        <p:txBody>
          <a:bodyPr lIns="0" tIns="0" rIns="0" bIns="0" rtlCol="0" anchor="t">
            <a:spAutoFit/>
          </a:bodyPr>
          <a:lstStyle/>
          <a:p>
            <a:r>
              <a:rPr lang="en-US" altLang="zh-CN" sz="4000" b="1" dirty="0"/>
              <a:t>Random Forest Model Deep </a:t>
            </a:r>
            <a:r>
              <a:rPr lang="en-US" altLang="zh-CN" sz="4000" b="1" dirty="0" smtClean="0"/>
              <a:t>Dive Model </a:t>
            </a:r>
            <a:r>
              <a:rPr lang="en-US" altLang="zh-CN" sz="4000" b="1" dirty="0"/>
              <a:t>Configuration</a:t>
            </a:r>
            <a:endParaRPr lang="en-US" altLang="zh-CN" sz="4000" b="1" dirty="0"/>
          </a:p>
        </p:txBody>
      </p:sp>
      <p:sp>
        <p:nvSpPr>
          <p:cNvPr id="6" name="文本框 5"/>
          <p:cNvSpPr txBox="1"/>
          <p:nvPr/>
        </p:nvSpPr>
        <p:spPr>
          <a:xfrm>
            <a:off x="13388335" y="2254000"/>
            <a:ext cx="8229600" cy="1815882"/>
          </a:xfrm>
          <a:prstGeom prst="rect">
            <a:avLst/>
          </a:prstGeom>
          <a:noFill/>
        </p:spPr>
        <p:txBody>
          <a:bodyPr wrap="square" rtlCol="0">
            <a:spAutoFit/>
          </a:bodyPr>
          <a:lstStyle/>
          <a:p>
            <a:r>
              <a:rPr lang="en-US" altLang="zh-CN" sz="2800" b="1" dirty="0"/>
              <a:t>Optimal </a:t>
            </a:r>
            <a:r>
              <a:rPr lang="en-US" altLang="zh-CN" sz="2800" b="1" dirty="0" err="1"/>
              <a:t>Hyperparameters</a:t>
            </a:r>
            <a:r>
              <a:rPr lang="en-US" altLang="zh-CN" sz="2800" b="1" dirty="0" smtClean="0"/>
              <a:t>:</a:t>
            </a:r>
            <a:endParaRPr lang="en-US" altLang="zh-CN" sz="2800" b="1" dirty="0" smtClean="0"/>
          </a:p>
          <a:p>
            <a:endParaRPr lang="en-US" altLang="zh-CN" sz="2800" b="1" dirty="0"/>
          </a:p>
          <a:p>
            <a:endParaRPr lang="en-US" altLang="zh-CN" sz="2800" dirty="0"/>
          </a:p>
          <a:p>
            <a:endParaRPr lang="zh-CN" altLang="en-US" sz="2800" dirty="0"/>
          </a:p>
        </p:txBody>
      </p:sp>
      <p:sp>
        <p:nvSpPr>
          <p:cNvPr id="9" name="Rectangle 3"/>
          <p:cNvSpPr>
            <a:spLocks noChangeArrowheads="1"/>
          </p:cNvSpPr>
          <p:nvPr/>
        </p:nvSpPr>
        <p:spPr bwMode="auto">
          <a:xfrm>
            <a:off x="13563600" y="2476500"/>
            <a:ext cx="4572000"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Trees in forest: 200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Maximum depth: 10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2400" b="0" i="0" u="none" strike="noStrike" cap="none" normalizeH="0" baseline="0" dirty="0" smtClean="0">
                <a:ln>
                  <a:noFill/>
                </a:ln>
                <a:solidFill>
                  <a:schemeClr val="tx1"/>
                </a:solidFill>
                <a:effectLst/>
                <a:latin typeface="Arial" panose="020B0604020202090204" pitchFamily="34" charset="0"/>
              </a:rPr>
              <a:t>Minimum samples for split: 5 </a:t>
            </a:r>
            <a:endParaRPr kumimoji="0" lang="zh-CN" altLang="zh-CN" sz="2400" b="0" i="0" u="none" strike="noStrike" cap="none" normalizeH="0" baseline="0" dirty="0" smtClean="0">
              <a:ln>
                <a:noFill/>
              </a:ln>
              <a:solidFill>
                <a:schemeClr val="tx1"/>
              </a:solidFill>
              <a:effectLst/>
              <a:latin typeface="Arial" panose="020B0604020202090204" pitchFamily="34" charset="0"/>
            </a:endParaRPr>
          </a:p>
        </p:txBody>
      </p:sp>
      <p:pic>
        <p:nvPicPr>
          <p:cNvPr id="10" name="图片 9"/>
          <p:cNvPicPr>
            <a:picLocks noChangeAspect="1"/>
          </p:cNvPicPr>
          <p:nvPr/>
        </p:nvPicPr>
        <p:blipFill>
          <a:blip r:embed="rId1"/>
          <a:stretch>
            <a:fillRect/>
          </a:stretch>
        </p:blipFill>
        <p:spPr>
          <a:xfrm>
            <a:off x="152400" y="2001503"/>
            <a:ext cx="13235935" cy="5481549"/>
          </a:xfrm>
          <a:prstGeom prst="rect">
            <a:avLst/>
          </a:prstGeom>
        </p:spPr>
      </p:pic>
      <p:sp>
        <p:nvSpPr>
          <p:cNvPr id="11" name="文本框 10"/>
          <p:cNvSpPr txBox="1"/>
          <p:nvPr/>
        </p:nvSpPr>
        <p:spPr>
          <a:xfrm>
            <a:off x="13582909" y="4742277"/>
            <a:ext cx="4720331" cy="5632311"/>
          </a:xfrm>
          <a:prstGeom prst="rect">
            <a:avLst/>
          </a:prstGeom>
          <a:noFill/>
        </p:spPr>
        <p:txBody>
          <a:bodyPr wrap="none" rtlCol="0">
            <a:spAutoFit/>
          </a:bodyPr>
          <a:lstStyle/>
          <a:p>
            <a:r>
              <a:rPr lang="en-US" altLang="zh-CN" sz="2400" b="1" dirty="0"/>
              <a:t>Accuracy Metrics</a:t>
            </a:r>
            <a:endParaRPr lang="en-US" altLang="zh-CN" sz="2400" b="1" dirty="0"/>
          </a:p>
          <a:p>
            <a:endParaRPr lang="en-US" altLang="zh-CN" sz="2400" dirty="0" smtClean="0"/>
          </a:p>
          <a:p>
            <a:r>
              <a:rPr lang="en-US" altLang="zh-CN" sz="2400" b="1" dirty="0" smtClean="0"/>
              <a:t>R² </a:t>
            </a:r>
            <a:r>
              <a:rPr lang="en-US" altLang="zh-CN" sz="2400" b="1" dirty="0"/>
              <a:t>Score</a:t>
            </a:r>
            <a:r>
              <a:rPr lang="en-US" altLang="zh-CN" sz="2400" dirty="0"/>
              <a:t> Training: 0.871</a:t>
            </a:r>
            <a:endParaRPr lang="en-US" altLang="zh-CN" sz="2400" dirty="0"/>
          </a:p>
          <a:p>
            <a:r>
              <a:rPr lang="en-US" altLang="zh-CN" sz="2400" dirty="0"/>
              <a:t>Test: 0.849</a:t>
            </a:r>
            <a:endParaRPr lang="en-US" altLang="zh-CN" sz="2400" dirty="0"/>
          </a:p>
          <a:p>
            <a:r>
              <a:rPr lang="en-US" altLang="zh-CN" sz="2400" dirty="0"/>
              <a:t>Shows strong predictive power with </a:t>
            </a:r>
            <a:endParaRPr lang="en-US" altLang="zh-CN" sz="2400" dirty="0" smtClean="0"/>
          </a:p>
          <a:p>
            <a:r>
              <a:rPr lang="en-US" altLang="zh-CN" sz="2400" dirty="0" smtClean="0"/>
              <a:t>minimal </a:t>
            </a:r>
            <a:r>
              <a:rPr lang="en-US" altLang="zh-CN" sz="2400" dirty="0"/>
              <a:t>overfitting</a:t>
            </a:r>
            <a:endParaRPr lang="en-US" altLang="zh-CN" sz="2400" dirty="0"/>
          </a:p>
          <a:p>
            <a:endParaRPr lang="en-US" altLang="zh-CN" sz="2400" dirty="0" smtClean="0"/>
          </a:p>
          <a:p>
            <a:r>
              <a:rPr lang="en-US" altLang="zh-CN" sz="2400" b="1" dirty="0"/>
              <a:t>Error Metrics</a:t>
            </a:r>
            <a:endParaRPr lang="en-US" altLang="zh-CN" sz="2400" b="1" dirty="0"/>
          </a:p>
          <a:p>
            <a:r>
              <a:rPr lang="en-US" altLang="zh-CN" sz="2400" b="1" dirty="0"/>
              <a:t>RMSE</a:t>
            </a:r>
            <a:r>
              <a:rPr lang="en-US" altLang="zh-CN" sz="2400" dirty="0"/>
              <a:t> </a:t>
            </a:r>
            <a:endParaRPr lang="en-US" altLang="zh-CN" sz="2400" dirty="0"/>
          </a:p>
          <a:p>
            <a:pPr lvl="1"/>
            <a:r>
              <a:rPr lang="en-US" altLang="zh-CN" sz="2400" dirty="0"/>
              <a:t>Training: 3.14</a:t>
            </a:r>
            <a:endParaRPr lang="en-US" altLang="zh-CN" sz="2400" dirty="0"/>
          </a:p>
          <a:p>
            <a:pPr lvl="1"/>
            <a:r>
              <a:rPr lang="en-US" altLang="zh-CN" sz="2400" dirty="0"/>
              <a:t>Test: 3.54</a:t>
            </a:r>
            <a:endParaRPr lang="en-US" altLang="zh-CN" sz="2400" dirty="0"/>
          </a:p>
          <a:p>
            <a:r>
              <a:rPr lang="en-US" altLang="zh-CN" sz="2400" b="1" dirty="0"/>
              <a:t>MAE</a:t>
            </a:r>
            <a:r>
              <a:rPr lang="en-US" altLang="zh-CN" sz="2400" dirty="0"/>
              <a:t> </a:t>
            </a:r>
            <a:endParaRPr lang="en-US" altLang="zh-CN" sz="2400" dirty="0"/>
          </a:p>
          <a:p>
            <a:pPr lvl="1"/>
            <a:r>
              <a:rPr lang="en-US" altLang="zh-CN" sz="2400" dirty="0"/>
              <a:t>Training: 0.84</a:t>
            </a:r>
            <a:endParaRPr lang="en-US" altLang="zh-CN" sz="2400" dirty="0"/>
          </a:p>
          <a:p>
            <a:pPr lvl="1"/>
            <a:r>
              <a:rPr lang="en-US" altLang="zh-CN" sz="2400" dirty="0"/>
              <a:t>Test: 1.01</a:t>
            </a:r>
            <a:endParaRPr lang="en-US" altLang="zh-CN" sz="2400" dirty="0"/>
          </a:p>
          <a:p>
            <a:endParaRPr lang="zh-CN" alt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4460</Words>
  <Application>WPS Writer</Application>
  <PresentationFormat>自定义</PresentationFormat>
  <Paragraphs>187</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Public Sans Bold</vt:lpstr>
      <vt:lpstr>Playfair Display</vt:lpstr>
      <vt:lpstr>Public Sans</vt:lpstr>
      <vt:lpstr>Arial</vt:lpstr>
      <vt:lpstr>等线</vt:lpstr>
      <vt:lpstr>Microsoft YaHei</vt:lpstr>
      <vt:lpstr>汉仪旗黑</vt:lpstr>
      <vt:lpstr>Arial Unicode MS</vt:lpstr>
      <vt:lpstr>Calibri</vt:lpstr>
      <vt:lpstr>SimSun</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dc:creator/>
  <cp:lastModifiedBy>Charlotte Huang</cp:lastModifiedBy>
  <cp:revision>8</cp:revision>
  <dcterms:created xsi:type="dcterms:W3CDTF">2024-12-10T03:04:16Z</dcterms:created>
  <dcterms:modified xsi:type="dcterms:W3CDTF">2024-12-10T03:04:16Z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6BAF8589C9071A54B0AF5767E6256E67_43</vt:lpwstr>
  </property>
  <property fmtid="{D5CDD505-2E9C-101B-9397-08002B2CF9AE}" pid="3" name="KSOProductBuildVer">
    <vt:lpwstr>1033-6.10.1.8197</vt:lpwstr>
  </property>
</Properties>
</file>